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7315200" cy="914400"/>
          </a:xfrm>
          <a:prstGeom prst="rect">
            <a:avLst/>
          </a:prstGeom>
          <a:noFill/>
        </p:spPr>
        <p:txBody>
          <a:bodyPr wrap="none">
            <a:spAutoFit/>
          </a:bodyPr>
          <a:lstStyle/>
          <a:p>
            <a:pPr algn="ctr">
              <a:defRPr sz="4400" b="1"/>
            </a:pPr>
            <a:r>
              <a:t>Class 10 Mathematics Chapter 5 Arithmetic Progression</a:t>
            </a:r>
          </a:p>
        </p:txBody>
      </p:sp>
      <p:sp>
        <p:nvSpPr>
          <p:cNvPr id="3" name="TextBox 2"/>
          <p:cNvSpPr txBox="1"/>
          <p:nvPr/>
        </p:nvSpPr>
        <p:spPr>
          <a:xfrm>
            <a:off x="914400" y="3657600"/>
            <a:ext cx="7315200" cy="457200"/>
          </a:xfrm>
          <a:prstGeom prst="rect">
            <a:avLst/>
          </a:prstGeom>
          <a:noFill/>
        </p:spPr>
        <p:txBody>
          <a:bodyPr wrap="none">
            <a:spAutoFit/>
          </a:bodyPr>
          <a:lstStyle/>
          <a:p>
            <a:pPr algn="ctr">
              <a:defRPr sz="2400"/>
            </a:pPr>
            <a:r>
              <a:t>Subject: Mathematics</a:t>
            </a:r>
          </a:p>
        </p:txBody>
      </p:sp>
      <p:sp>
        <p:nvSpPr>
          <p:cNvPr id="4" name="TextBox 3"/>
          <p:cNvSpPr txBox="1"/>
          <p:nvPr/>
        </p:nvSpPr>
        <p:spPr>
          <a:xfrm>
            <a:off x="914400" y="4297680"/>
            <a:ext cx="7315200" cy="457200"/>
          </a:xfrm>
          <a:prstGeom prst="rect">
            <a:avLst/>
          </a:prstGeom>
          <a:noFill/>
        </p:spPr>
        <p:txBody>
          <a:bodyPr wrap="none">
            <a:spAutoFit/>
          </a:bodyPr>
          <a:lstStyle/>
          <a:p>
            <a:pPr algn="ctr">
              <a:defRPr sz="2400"/>
            </a:pPr>
            <a:r>
              <a:t>Class: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828800" cy="457200"/>
          </a:xfrm>
          <a:prstGeom prst="rect">
            <a:avLst/>
          </a:prstGeom>
          <a:noFill/>
        </p:spPr>
        <p:txBody>
          <a:bodyPr wrap="none">
            <a:spAutoFit/>
          </a:bodyPr>
          <a:lstStyle/>
          <a:p>
            <a:pPr>
              <a:defRPr sz="2000" b="1">
                <a:solidFill>
                  <a:srgbClr val="0066CC"/>
                </a:solidFill>
              </a:defRPr>
            </a:pPr>
            <a:r>
              <a:t>LS1</a:t>
            </a:r>
          </a:p>
        </p:txBody>
      </p:sp>
      <p:sp>
        <p:nvSpPr>
          <p:cNvPr id="3" name="TextBox 2"/>
          <p:cNvSpPr txBox="1"/>
          <p:nvPr/>
        </p:nvSpPr>
        <p:spPr>
          <a:xfrm>
            <a:off x="914400" y="1828800"/>
            <a:ext cx="7315200" cy="1371600"/>
          </a:xfrm>
          <a:prstGeom prst="rect">
            <a:avLst/>
          </a:prstGeom>
          <a:noFill/>
        </p:spPr>
        <p:txBody>
          <a:bodyPr wrap="none">
            <a:spAutoFit/>
          </a:bodyPr>
          <a:lstStyle/>
          <a:p>
            <a:pPr algn="ctr">
              <a:defRPr sz="3600" b="1"/>
            </a:pPr>
            <a:r>
              <a:t>The Glowing Pattern on the Wall</a:t>
            </a:r>
          </a:p>
        </p:txBody>
      </p:sp>
      <p:sp>
        <p:nvSpPr>
          <p:cNvPr id="4" name="TextBox 3"/>
          <p:cNvSpPr txBox="1"/>
          <p:nvPr/>
        </p:nvSpPr>
        <p:spPr>
          <a:xfrm>
            <a:off x="914400" y="3657600"/>
            <a:ext cx="7315200" cy="1828800"/>
          </a:xfrm>
          <a:prstGeom prst="rect">
            <a:avLst/>
          </a:prstGeom>
          <a:noFill/>
        </p:spPr>
        <p:txBody>
          <a:bodyPr wrap="none">
            <a:spAutoFit/>
          </a:bodyPr>
          <a:lstStyle/>
          <a:p>
            <a:pPr algn="l">
              <a:defRPr sz="1800"/>
            </a:pPr>
          </a:p>
          <a:p>
            <a:r>
              <a:t>• Sequence</a:t>
            </a:r>
          </a:p>
          <a:p>
            <a:r>
              <a:t>• Patterns in Sequences</a:t>
            </a:r>
          </a:p>
          <a:p>
            <a:r>
              <a:t>• List of Numbers</a:t>
            </a:r>
          </a:p>
          <a:p>
            <a:r>
              <a:t>• Successive Terms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685800"/>
          </a:xfrm>
          <a:prstGeom prst="rect">
            <a:avLst/>
          </a:prstGeom>
          <a:noFill/>
        </p:spPr>
        <p:txBody>
          <a:bodyPr wrap="square">
            <a:spAutoFit/>
          </a:bodyPr>
          <a:lstStyle/>
          <a:p>
            <a:pPr algn="l">
              <a:defRPr sz="2000" b="1">
                <a:solidFill>
                  <a:srgbClr val="FFFFFF"/>
                </a:solidFill>
              </a:defRPr>
            </a:pPr>
            <a:r>
              <a:t>Scene goal: The scene introduces a visual sequence as a puzzle—a list of numbers with a clear, repeating pattern and a missing term. No explanation is given; only the raw pattern and the characters' instinctive reactions to it are shown.</a:t>
            </a:r>
          </a:p>
        </p:txBody>
      </p:sp>
      <p:sp>
        <p:nvSpPr>
          <p:cNvPr id="4" name="TextBox 3"/>
          <p:cNvSpPr txBox="1"/>
          <p:nvPr/>
        </p:nvSpPr>
        <p:spPr>
          <a:xfrm>
            <a:off x="914400" y="1874519"/>
            <a:ext cx="7315200" cy="914400"/>
          </a:xfrm>
          <a:prstGeom prst="rect">
            <a:avLst/>
          </a:prstGeom>
          <a:noFill/>
        </p:spPr>
        <p:txBody>
          <a:bodyPr wrap="none">
            <a:spAutoFit/>
          </a:bodyPr>
          <a:lstStyle/>
          <a:p>
            <a:pPr algn="ctr">
              <a:defRPr sz="1600">
                <a:solidFill>
                  <a:srgbClr val="C80000"/>
                </a:solidFill>
              </a:defRPr>
            </a:pPr>
            <a:r>
              <a:t>[Image not found: C:\Users\gvpra\Downloads\Jushwanth\BIA INTERNSHIP\Final_Automation\Automation_prompt_json_generator\outputs\10_mathematics_arithmetic_progression\images\LS1_S1.png]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685800"/>
          </a:xfrm>
          <a:prstGeom prst="rect">
            <a:avLst/>
          </a:prstGeom>
          <a:noFill/>
        </p:spPr>
        <p:txBody>
          <a:bodyPr wrap="square">
            <a:spAutoFit/>
          </a:bodyPr>
          <a:lstStyle/>
          <a:p>
            <a:pPr algn="l">
              <a:defRPr sz="2000" b="1">
                <a:solidFill>
                  <a:srgbClr val="FFFFFF"/>
                </a:solidFill>
              </a:defRPr>
            </a:pPr>
            <a:r>
              <a:t>Scene goal: The characters actively observe and describe the pattern in the sequence—the consistent difference between successive terms—using plain language, without yet naming the formal concept.</a:t>
            </a:r>
          </a:p>
        </p:txBody>
      </p:sp>
      <p:sp>
        <p:nvSpPr>
          <p:cNvPr id="4" name="TextBox 3"/>
          <p:cNvSpPr txBox="1"/>
          <p:nvPr/>
        </p:nvSpPr>
        <p:spPr>
          <a:xfrm>
            <a:off x="914400" y="1874519"/>
            <a:ext cx="7315200" cy="914400"/>
          </a:xfrm>
          <a:prstGeom prst="rect">
            <a:avLst/>
          </a:prstGeom>
          <a:noFill/>
        </p:spPr>
        <p:txBody>
          <a:bodyPr wrap="none">
            <a:spAutoFit/>
          </a:bodyPr>
          <a:lstStyle/>
          <a:p>
            <a:pPr algn="ctr">
              <a:defRPr sz="1600">
                <a:solidFill>
                  <a:srgbClr val="C80000"/>
                </a:solidFill>
              </a:defRPr>
            </a:pPr>
            <a:r>
              <a:t>[Image not found: C:\Users\gvpra\Downloads\Jushwanth\BIA INTERNSHIP\Final_Automation\Automation_prompt_json_generator\outputs\10_mathematics_arithmetic_progression\images\LS1_S2.png]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685800"/>
          </a:xfrm>
          <a:prstGeom prst="rect">
            <a:avLst/>
          </a:prstGeom>
          <a:noFill/>
        </p:spPr>
        <p:txBody>
          <a:bodyPr wrap="square">
            <a:spAutoFit/>
          </a:bodyPr>
          <a:lstStyle/>
          <a:p>
            <a:pPr algn="l">
              <a:defRPr sz="2000" b="1">
                <a:solidFill>
                  <a:srgbClr val="FFFFFF"/>
                </a:solidFill>
              </a:defRPr>
            </a:pPr>
            <a:r>
              <a:t>Scene goal: Maya explicitly traces the pattern step-by-step from the first term, verifying the rule holds for every successive term in the list of numbers.</a:t>
            </a:r>
          </a:p>
        </p:txBody>
      </p:sp>
      <p:sp>
        <p:nvSpPr>
          <p:cNvPr id="4" name="TextBox 3"/>
          <p:cNvSpPr txBox="1"/>
          <p:nvPr/>
        </p:nvSpPr>
        <p:spPr>
          <a:xfrm>
            <a:off x="914400" y="1874519"/>
            <a:ext cx="7315200" cy="914400"/>
          </a:xfrm>
          <a:prstGeom prst="rect">
            <a:avLst/>
          </a:prstGeom>
          <a:noFill/>
        </p:spPr>
        <p:txBody>
          <a:bodyPr wrap="none">
            <a:spAutoFit/>
          </a:bodyPr>
          <a:lstStyle/>
          <a:p>
            <a:pPr algn="ctr">
              <a:defRPr sz="1600">
                <a:solidFill>
                  <a:srgbClr val="C80000"/>
                </a:solidFill>
              </a:defRPr>
            </a:pPr>
            <a:r>
              <a:t>[Image not found: C:\Users\gvpra\Downloads\Jushwanth\BIA INTERNSHIP\Final_Automation\Automation_prompt_json_generator\outputs\10_mathematics_arithmetic_progression\images\LS1_S3.png]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685800"/>
          </a:xfrm>
          <a:prstGeom prst="rect">
            <a:avLst/>
          </a:prstGeom>
          <a:noFill/>
        </p:spPr>
        <p:txBody>
          <a:bodyPr wrap="square">
            <a:spAutoFit/>
          </a:bodyPr>
          <a:lstStyle/>
          <a:p>
            <a:pPr algn="l">
              <a:defRPr sz="2000" b="1">
                <a:solidFill>
                  <a:srgbClr val="FFFFFF"/>
                </a:solidFill>
              </a:defRPr>
            </a:pPr>
            <a:r>
              <a:t>Scene goal: The wall's negative response shows that identifying the next number in the list is not enough to solve the puzzle. The sequence pattern is correct, but the puzzle mechanics are different.</a:t>
            </a:r>
          </a:p>
        </p:txBody>
      </p:sp>
      <p:sp>
        <p:nvSpPr>
          <p:cNvPr id="4" name="TextBox 3"/>
          <p:cNvSpPr txBox="1"/>
          <p:nvPr/>
        </p:nvSpPr>
        <p:spPr>
          <a:xfrm>
            <a:off x="914400" y="1874519"/>
            <a:ext cx="7315200" cy="914400"/>
          </a:xfrm>
          <a:prstGeom prst="rect">
            <a:avLst/>
          </a:prstGeom>
          <a:noFill/>
        </p:spPr>
        <p:txBody>
          <a:bodyPr wrap="none">
            <a:spAutoFit/>
          </a:bodyPr>
          <a:lstStyle/>
          <a:p>
            <a:pPr algn="ctr">
              <a:defRPr sz="1600">
                <a:solidFill>
                  <a:srgbClr val="C80000"/>
                </a:solidFill>
              </a:defRPr>
            </a:pPr>
            <a:r>
              <a:t>[Image not found: C:\Users\gvpra\Downloads\Jushwanth\BIA INTERNSHIP\Final_Automation\Automation_prompt_json_generator\outputs\10_mathematics_arithmetic_progression\images\LS1_S4.png]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685800"/>
          </a:xfrm>
          <a:prstGeom prst="rect">
            <a:avLst/>
          </a:prstGeom>
          <a:noFill/>
        </p:spPr>
        <p:txBody>
          <a:bodyPr wrap="square">
            <a:spAutoFit/>
          </a:bodyPr>
          <a:lstStyle/>
          <a:p>
            <a:pPr algn="l">
              <a:defRPr sz="2000" b="1">
                <a:solidFill>
                  <a:srgbClr val="FFFFFF"/>
                </a:solidFill>
              </a:defRPr>
            </a:pPr>
            <a:r>
              <a:t>Scene goal: Maya demonstrates that solving a sequence requires observing the entire pattern, not just jumping to the next obvious term. This establishes the importance of systematic observation over impulsive guessing.</a:t>
            </a:r>
          </a:p>
        </p:txBody>
      </p:sp>
      <p:sp>
        <p:nvSpPr>
          <p:cNvPr id="4" name="TextBox 3"/>
          <p:cNvSpPr txBox="1"/>
          <p:nvPr/>
        </p:nvSpPr>
        <p:spPr>
          <a:xfrm>
            <a:off x="914400" y="1874519"/>
            <a:ext cx="7315200" cy="914400"/>
          </a:xfrm>
          <a:prstGeom prst="rect">
            <a:avLst/>
          </a:prstGeom>
          <a:noFill/>
        </p:spPr>
        <p:txBody>
          <a:bodyPr wrap="none">
            <a:spAutoFit/>
          </a:bodyPr>
          <a:lstStyle/>
          <a:p>
            <a:pPr algn="ctr">
              <a:defRPr sz="1600">
                <a:solidFill>
                  <a:srgbClr val="C80000"/>
                </a:solidFill>
              </a:defRPr>
            </a:pPr>
            <a:r>
              <a:t>[Image not found: C:\Users\gvpra\Downloads\Jushwanth\BIA INTERNSHIP\Final_Automation\Automation_prompt_json_generator\outputs\10_mathematics_arithmetic_progression\images\LS1_S5.png]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685800"/>
          </a:xfrm>
          <a:prstGeom prst="rect">
            <a:avLst/>
          </a:prstGeom>
          <a:noFill/>
        </p:spPr>
        <p:txBody>
          <a:bodyPr wrap="square">
            <a:spAutoFit/>
          </a:bodyPr>
          <a:lstStyle/>
          <a:p>
            <a:pPr algn="l">
              <a:defRPr sz="2000" b="1">
                <a:solidFill>
                  <a:srgbClr val="FFFFFF"/>
                </a:solidFill>
              </a:defRPr>
            </a:pPr>
            <a:r>
              <a:t>Scene goal: Maya identifies the constant difference between successive terms. This is the core concept of an arithmetic progression: a sequence where each term is obtained by adding a fixed number (the common difference) to the previous term. She focuses on the 'gap' or 'step' between numbers, not just the numbers themselves.</a:t>
            </a:r>
          </a:p>
        </p:txBody>
      </p:sp>
      <p:sp>
        <p:nvSpPr>
          <p:cNvPr id="4" name="TextBox 3"/>
          <p:cNvSpPr txBox="1"/>
          <p:nvPr/>
        </p:nvSpPr>
        <p:spPr>
          <a:xfrm>
            <a:off x="914400" y="1874519"/>
            <a:ext cx="7315200" cy="914400"/>
          </a:xfrm>
          <a:prstGeom prst="rect">
            <a:avLst/>
          </a:prstGeom>
          <a:noFill/>
        </p:spPr>
        <p:txBody>
          <a:bodyPr wrap="none">
            <a:spAutoFit/>
          </a:bodyPr>
          <a:lstStyle/>
          <a:p>
            <a:pPr algn="ctr">
              <a:defRPr sz="1600">
                <a:solidFill>
                  <a:srgbClr val="C80000"/>
                </a:solidFill>
              </a:defRPr>
            </a:pPr>
            <a:r>
              <a:t>[Image not found: C:\Users\gvpra\Downloads\Jushwanth\BIA INTERNSHIP\Final_Automation\Automation_prompt_json_generator\outputs\10_mathematics_arithmetic_progression\images\LS1_S6.png]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685800"/>
          </a:xfrm>
          <a:prstGeom prst="rect">
            <a:avLst/>
          </a:prstGeom>
          <a:noFill/>
        </p:spPr>
        <p:txBody>
          <a:bodyPr wrap="square">
            <a:spAutoFit/>
          </a:bodyPr>
          <a:lstStyle/>
          <a:p>
            <a:pPr algn="l">
              <a:defRPr sz="2000" b="1">
                <a:solidFill>
                  <a:srgbClr val="FFFFFF"/>
                </a:solidFill>
              </a:defRPr>
            </a:pPr>
            <a:r>
              <a:t>Scene goal: This scene reinforces that guessing random numbers without identifying the pattern fails. The wall's negative feedback (louder hum) shows the system rejects incorrect, patternless answers. It contrasts with Maya's methodical approach of finding the consistent step between terms.</a:t>
            </a:r>
          </a:p>
        </p:txBody>
      </p:sp>
      <p:sp>
        <p:nvSpPr>
          <p:cNvPr id="4" name="TextBox 3"/>
          <p:cNvSpPr txBox="1"/>
          <p:nvPr/>
        </p:nvSpPr>
        <p:spPr>
          <a:xfrm>
            <a:off x="914400" y="1874519"/>
            <a:ext cx="7315200" cy="914400"/>
          </a:xfrm>
          <a:prstGeom prst="rect">
            <a:avLst/>
          </a:prstGeom>
          <a:noFill/>
        </p:spPr>
        <p:txBody>
          <a:bodyPr wrap="none">
            <a:spAutoFit/>
          </a:bodyPr>
          <a:lstStyle/>
          <a:p>
            <a:pPr algn="ctr">
              <a:defRPr sz="1600">
                <a:solidFill>
                  <a:srgbClr val="C80000"/>
                </a:solidFill>
              </a:defRPr>
            </a:pPr>
            <a:r>
              <a:t>[Image not found: C:\Users\gvpra\Downloads\Jushwanth\BIA INTERNSHIP\Final_Automation\Automation_prompt_json_generator\outputs\10_mathematics_arithmetic_progression\images\LS1_S7.png]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685800"/>
          </a:xfrm>
          <a:prstGeom prst="rect">
            <a:avLst/>
          </a:prstGeom>
          <a:noFill/>
        </p:spPr>
        <p:txBody>
          <a:bodyPr wrap="square">
            <a:spAutoFit/>
          </a:bodyPr>
          <a:lstStyle/>
          <a:p>
            <a:pPr algn="l">
              <a:defRPr sz="2000" b="1">
                <a:solidFill>
                  <a:srgbClr val="FFFFFF"/>
                </a:solidFill>
              </a:defRPr>
            </a:pPr>
            <a:r>
              <a:t>Scene goal: DISCOVERY</a:t>
            </a:r>
          </a:p>
        </p:txBody>
      </p:sp>
      <p:sp>
        <p:nvSpPr>
          <p:cNvPr id="4" name="TextBox 3"/>
          <p:cNvSpPr txBox="1"/>
          <p:nvPr/>
        </p:nvSpPr>
        <p:spPr>
          <a:xfrm>
            <a:off x="914400" y="1874519"/>
            <a:ext cx="7315200" cy="914400"/>
          </a:xfrm>
          <a:prstGeom prst="rect">
            <a:avLst/>
          </a:prstGeom>
          <a:noFill/>
        </p:spPr>
        <p:txBody>
          <a:bodyPr wrap="none">
            <a:spAutoFit/>
          </a:bodyPr>
          <a:lstStyle/>
          <a:p>
            <a:pPr algn="ctr">
              <a:defRPr sz="1600">
                <a:solidFill>
                  <a:srgbClr val="C80000"/>
                </a:solidFill>
              </a:defRPr>
            </a:pPr>
            <a:r>
              <a:t>[Image not found: C:\Users\gvpra\Downloads\Jushwanth\BIA INTERNSHIP\Final_Automation\Automation_prompt_json_generator\outputs\10_mathematics_arithmetic_progression\images\LS1_S8.png]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685800"/>
          </a:xfrm>
          <a:prstGeom prst="rect">
            <a:avLst/>
          </a:prstGeom>
          <a:noFill/>
        </p:spPr>
        <p:txBody>
          <a:bodyPr wrap="square">
            <a:spAutoFit/>
          </a:bodyPr>
          <a:lstStyle/>
          <a:p>
            <a:pPr algn="l">
              <a:defRPr sz="2000" b="1">
                <a:solidFill>
                  <a:srgbClr val="FFFFFF"/>
                </a:solidFill>
              </a:defRPr>
            </a:pPr>
            <a:r>
              <a:t>Scene goal: Leo verbalizes the fixed pattern rule for the first sequence, moving from observation to formalizing the relationship between successive terms.</a:t>
            </a:r>
          </a:p>
        </p:txBody>
      </p:sp>
      <p:sp>
        <p:nvSpPr>
          <p:cNvPr id="4" name="TextBox 3"/>
          <p:cNvSpPr txBox="1"/>
          <p:nvPr/>
        </p:nvSpPr>
        <p:spPr>
          <a:xfrm>
            <a:off x="914400" y="1874519"/>
            <a:ext cx="7315200" cy="914400"/>
          </a:xfrm>
          <a:prstGeom prst="rect">
            <a:avLst/>
          </a:prstGeom>
          <a:noFill/>
        </p:spPr>
        <p:txBody>
          <a:bodyPr wrap="none">
            <a:spAutoFit/>
          </a:bodyPr>
          <a:lstStyle/>
          <a:p>
            <a:pPr algn="ctr">
              <a:defRPr sz="1600">
                <a:solidFill>
                  <a:srgbClr val="C80000"/>
                </a:solidFill>
              </a:defRPr>
            </a:pPr>
            <a:r>
              <a:t>[Image not found: C:\Users\gvpra\Downloads\Jushwanth\BIA INTERNSHIP\Final_Automation\Automation_prompt_json_generator\outputs\10_mathematics_arithmetic_progression\images\LS1_S9.png]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685800"/>
          </a:xfrm>
          <a:prstGeom prst="rect">
            <a:avLst/>
          </a:prstGeom>
          <a:noFill/>
        </p:spPr>
        <p:txBody>
          <a:bodyPr wrap="square">
            <a:spAutoFit/>
          </a:bodyPr>
          <a:lstStyle/>
          <a:p>
            <a:pPr algn="l">
              <a:defRPr sz="2000" b="1">
                <a:solidFill>
                  <a:srgbClr val="FFFFFF"/>
                </a:solidFill>
              </a:defRPr>
            </a:pPr>
            <a:r>
              <a:t>Scene goal: Leo applies the same reasoning process to a new sequence, calculating the common difference and using it to find the missing term.</a:t>
            </a:r>
          </a:p>
        </p:txBody>
      </p:sp>
      <p:sp>
        <p:nvSpPr>
          <p:cNvPr id="4" name="TextBox 3"/>
          <p:cNvSpPr txBox="1"/>
          <p:nvPr/>
        </p:nvSpPr>
        <p:spPr>
          <a:xfrm>
            <a:off x="914400" y="1874519"/>
            <a:ext cx="7315200" cy="914400"/>
          </a:xfrm>
          <a:prstGeom prst="rect">
            <a:avLst/>
          </a:prstGeom>
          <a:noFill/>
        </p:spPr>
        <p:txBody>
          <a:bodyPr wrap="none">
            <a:spAutoFit/>
          </a:bodyPr>
          <a:lstStyle/>
          <a:p>
            <a:pPr algn="ctr">
              <a:defRPr sz="1600">
                <a:solidFill>
                  <a:srgbClr val="C80000"/>
                </a:solidFill>
              </a:defRPr>
            </a:pPr>
            <a:r>
              <a:t>[Image not found: C:\Users\gvpra\Downloads\Jushwanth\BIA INTERNSHIP\Final_Automation\Automation_prompt_json_generator\outputs\10_mathematics_arithmetic_progression\images\LS1_S10.png]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685800"/>
          </a:xfrm>
          <a:prstGeom prst="rect">
            <a:avLst/>
          </a:prstGeom>
          <a:noFill/>
        </p:spPr>
        <p:txBody>
          <a:bodyPr wrap="square">
            <a:spAutoFit/>
          </a:bodyPr>
          <a:lstStyle/>
          <a:p>
            <a:pPr algn="l">
              <a:defRPr sz="2000" b="1">
                <a:solidFill>
                  <a:srgbClr val="FFFFFF"/>
                </a:solidFill>
              </a:defRPr>
            </a:pPr>
            <a:r>
              <a:t>Scene goal: The successful application of the same rule to a new sequence validates the discovered pattern and reinforces the concept of a consistent rule governing successive terms.</a:t>
            </a:r>
          </a:p>
        </p:txBody>
      </p:sp>
      <p:sp>
        <p:nvSpPr>
          <p:cNvPr id="4" name="TextBox 3"/>
          <p:cNvSpPr txBox="1"/>
          <p:nvPr/>
        </p:nvSpPr>
        <p:spPr>
          <a:xfrm>
            <a:off x="914400" y="1874519"/>
            <a:ext cx="7315200" cy="914400"/>
          </a:xfrm>
          <a:prstGeom prst="rect">
            <a:avLst/>
          </a:prstGeom>
          <a:noFill/>
        </p:spPr>
        <p:txBody>
          <a:bodyPr wrap="none">
            <a:spAutoFit/>
          </a:bodyPr>
          <a:lstStyle/>
          <a:p>
            <a:pPr algn="ctr">
              <a:defRPr sz="1600">
                <a:solidFill>
                  <a:srgbClr val="C80000"/>
                </a:solidFill>
              </a:defRPr>
            </a:pPr>
            <a:r>
              <a:t>[Image not found: C:\Users\gvpra\Downloads\Jushwanth\BIA INTERNSHIP\Final_Automation\Automation_prompt_json_generator\outputs\10_mathematics_arithmetic_progression\images\LS1_S11.png]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685800"/>
          </a:xfrm>
          <a:prstGeom prst="rect">
            <a:avLst/>
          </a:prstGeom>
          <a:noFill/>
        </p:spPr>
        <p:txBody>
          <a:bodyPr wrap="square">
            <a:spAutoFit/>
          </a:bodyPr>
          <a:lstStyle/>
          <a:p>
            <a:pPr algn="l">
              <a:defRPr sz="2000" b="1">
                <a:solidFill>
                  <a:srgbClr val="FFFFFF"/>
                </a:solidFill>
              </a:defRPr>
            </a:pPr>
            <a:r>
              <a:t>Scene goal: Comparing two successful sequences reinforces the concept of a consistent pattern (a fixed addition) governing a list of numbers, highlighting the predictability of successive terms.</a:t>
            </a:r>
          </a:p>
        </p:txBody>
      </p:sp>
      <p:sp>
        <p:nvSpPr>
          <p:cNvPr id="4" name="TextBox 3"/>
          <p:cNvSpPr txBox="1"/>
          <p:nvPr/>
        </p:nvSpPr>
        <p:spPr>
          <a:xfrm>
            <a:off x="914400" y="1874519"/>
            <a:ext cx="7315200" cy="914400"/>
          </a:xfrm>
          <a:prstGeom prst="rect">
            <a:avLst/>
          </a:prstGeom>
          <a:noFill/>
        </p:spPr>
        <p:txBody>
          <a:bodyPr wrap="none">
            <a:spAutoFit/>
          </a:bodyPr>
          <a:lstStyle/>
          <a:p>
            <a:pPr algn="ctr">
              <a:defRPr sz="1600">
                <a:solidFill>
                  <a:srgbClr val="C80000"/>
                </a:solidFill>
              </a:defRPr>
            </a:pPr>
            <a:r>
              <a:t>[Image not found: C:\Users\gvpra\Downloads\Jushwanth\BIA INTERNSHIP\Final_Automation\Automation_prompt_json_generator\outputs\10_mathematics_arithmetic_progression\images\LS1_S12.png]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685800"/>
          </a:xfrm>
          <a:prstGeom prst="rect">
            <a:avLst/>
          </a:prstGeom>
          <a:noFill/>
        </p:spPr>
        <p:txBody>
          <a:bodyPr wrap="square">
            <a:spAutoFit/>
          </a:bodyPr>
          <a:lstStyle/>
          <a:p>
            <a:pPr algn="l">
              <a:defRPr sz="2000" b="1">
                <a:solidFill>
                  <a:srgbClr val="FFFFFF"/>
                </a:solidFill>
              </a:defRPr>
            </a:pPr>
            <a:r>
              <a:t>Scene goal: A missing first term introduces the need to work backward in a sequence, testing understanding that the pattern applies consistently in both directions.</a:t>
            </a:r>
          </a:p>
        </p:txBody>
      </p:sp>
      <p:sp>
        <p:nvSpPr>
          <p:cNvPr id="4" name="TextBox 3"/>
          <p:cNvSpPr txBox="1"/>
          <p:nvPr/>
        </p:nvSpPr>
        <p:spPr>
          <a:xfrm>
            <a:off x="914400" y="1874519"/>
            <a:ext cx="7315200" cy="914400"/>
          </a:xfrm>
          <a:prstGeom prst="rect">
            <a:avLst/>
          </a:prstGeom>
          <a:noFill/>
        </p:spPr>
        <p:txBody>
          <a:bodyPr wrap="none">
            <a:spAutoFit/>
          </a:bodyPr>
          <a:lstStyle/>
          <a:p>
            <a:pPr algn="ctr">
              <a:defRPr sz="1600">
                <a:solidFill>
                  <a:srgbClr val="C80000"/>
                </a:solidFill>
              </a:defRPr>
            </a:pPr>
            <a:r>
              <a:t>[Image not found: C:\Users\gvpra\Downloads\Jushwanth\BIA INTERNSHIP\Final_Automation\Automation_prompt_json_generator\outputs\10_mathematics_arithmetic_progression\images\LS1_S13.png]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37160"/>
            <a:ext cx="8595360" cy="685800"/>
          </a:xfrm>
          <a:prstGeom prst="rect">
            <a:avLst/>
          </a:prstGeom>
          <a:noFill/>
        </p:spPr>
        <p:txBody>
          <a:bodyPr wrap="square">
            <a:spAutoFit/>
          </a:bodyPr>
          <a:lstStyle/>
          <a:p>
            <a:pPr algn="l">
              <a:defRPr sz="2000" b="1">
                <a:solidFill>
                  <a:srgbClr val="FFFFFF"/>
                </a:solidFill>
              </a:defRPr>
            </a:pPr>
            <a:r>
              <a:t>Scene goal: Recognizing that a consistent pattern in a sequence can be applied in reverse to find a missing first term.</a:t>
            </a:r>
          </a:p>
        </p:txBody>
      </p:sp>
      <p:sp>
        <p:nvSpPr>
          <p:cNvPr id="4" name="TextBox 3"/>
          <p:cNvSpPr txBox="1"/>
          <p:nvPr/>
        </p:nvSpPr>
        <p:spPr>
          <a:xfrm>
            <a:off x="914400" y="1874519"/>
            <a:ext cx="7315200" cy="914400"/>
          </a:xfrm>
          <a:prstGeom prst="rect">
            <a:avLst/>
          </a:prstGeom>
          <a:noFill/>
        </p:spPr>
        <p:txBody>
          <a:bodyPr wrap="none">
            <a:spAutoFit/>
          </a:bodyPr>
          <a:lstStyle/>
          <a:p>
            <a:pPr algn="ctr">
              <a:defRPr sz="1600">
                <a:solidFill>
                  <a:srgbClr val="C80000"/>
                </a:solidFill>
              </a:defRPr>
            </a:pPr>
            <a:r>
              <a:t>[Image not found: C:\Users\gvpra\Downloads\Jushwanth\BIA INTERNSHIP\Final_Automation\Automation_prompt_json_generator\outputs\10_mathematics_arithmetic_progression\images\LS1_S14.png]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